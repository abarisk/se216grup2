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Inter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Inter-bold.fntdata"/><Relationship Id="rId12" Type="http://schemas.openxmlformats.org/officeDocument/2006/relationships/slide" Target="slides/slide6.xml"/><Relationship Id="rId34" Type="http://schemas.openxmlformats.org/officeDocument/2006/relationships/font" Target="fonts/Inter-regular.fntdata"/><Relationship Id="rId15" Type="http://schemas.openxmlformats.org/officeDocument/2006/relationships/slide" Target="slides/slide9.xml"/><Relationship Id="rId37" Type="http://schemas.openxmlformats.org/officeDocument/2006/relationships/font" Target="fonts/Inter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284181e9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e284181e9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284181e98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284181e98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2ada0d591_9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e2ada0d591_9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284181e98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284181e98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284181e98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284181e98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2ada0d591_9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e2ada0d591_9_3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2ada0d591_9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2ada0d591_9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2ada0d591_9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2ada0d591_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2aca43ddc_0_4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e2aca43ddc_0_43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2aca43ddc_0_43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2aca43ddc_0_6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e2aca43ddc_0_63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2aca43ddc_0_63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2aca43ddc_0_6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e2aca43ddc_0_69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e2aca43ddc_0_69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2aca43ddc_0_7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e2aca43ddc_0_74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e2aca43ddc_0_74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284181e98_1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284181e98_1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284181e98_1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e284181e98_1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284181e98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284181e98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284181e98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284181e98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284181e98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284181e98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284181e98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e284181e98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284181e98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e284181e98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284181e98_17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e284181e98_17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284181e98_17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e284181e98_17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284181e98_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e284181e98_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284181e98_3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e284181e98_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284181e98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e284181e98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284181e98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e284181e98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284181e98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e284181e98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284181e98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e284181e98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1" Type="http://schemas.openxmlformats.org/officeDocument/2006/relationships/image" Target="../media/image5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5.png"/><Relationship Id="rId13" Type="http://schemas.openxmlformats.org/officeDocument/2006/relationships/image" Target="../media/image21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2.png"/><Relationship Id="rId9" Type="http://schemas.openxmlformats.org/officeDocument/2006/relationships/image" Target="../media/image2.png"/><Relationship Id="rId15" Type="http://schemas.openxmlformats.org/officeDocument/2006/relationships/image" Target="../media/image16.png"/><Relationship Id="rId1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26.png"/><Relationship Id="rId5" Type="http://schemas.openxmlformats.org/officeDocument/2006/relationships/image" Target="../media/image40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Relationship Id="rId7" Type="http://schemas.openxmlformats.org/officeDocument/2006/relationships/image" Target="../media/image4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35.png"/><Relationship Id="rId6" Type="http://schemas.openxmlformats.org/officeDocument/2006/relationships/image" Target="../media/image45.png"/><Relationship Id="rId7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rive.google.com/file/d/15-dZuYz70U59DGmRGAgalx-exm4HrmLC/view?usp=sharing" TargetMode="External"/><Relationship Id="rId4" Type="http://schemas.openxmlformats.org/officeDocument/2006/relationships/hyperlink" Target="https://drive.google.com/file/d/15-dZuYz70U59DGmRGAgalx-exm4HrmLC/view?usp=sharing" TargetMode="External"/><Relationship Id="rId5" Type="http://schemas.openxmlformats.org/officeDocument/2006/relationships/hyperlink" Target="https://drive.google.com/file/d/1jQkcQXuL3_kq13dxdbwHJzc3IzWR-Hba/view?usp=sharing" TargetMode="External"/><Relationship Id="rId6" Type="http://schemas.openxmlformats.org/officeDocument/2006/relationships/hyperlink" Target="https://drive.google.com/file/d/18KDA4QW0wVYuwI2J47-VElz3DhTBeVEF/view?usp=sharing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" name="Google Shape;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" name="Google Shape;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947591"/>
            <a:ext cx="8286750" cy="707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" name="Google Shape;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432991"/>
            <a:ext cx="2647987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" name="Google Shape;6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8062" y="1432991"/>
            <a:ext cx="2647987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" name="Google Shape;7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7499" y="1432991"/>
            <a:ext cx="2647987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" name="Google Shape;7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4406" y="3250610"/>
            <a:ext cx="2205074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7"/>
          <p:cNvSpPr txBox="1"/>
          <p:nvPr/>
        </p:nvSpPr>
        <p:spPr>
          <a:xfrm>
            <a:off x="352000" y="318508"/>
            <a:ext cx="870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High-Level Functional</a:t>
            </a:r>
            <a:r>
              <a:rPr b="1" lang="tr" sz="25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ity</a:t>
            </a:r>
            <a:endParaRPr sz="1300"/>
          </a:p>
        </p:txBody>
      </p:sp>
      <p:sp>
        <p:nvSpPr>
          <p:cNvPr id="73" name="Google Shape;73;p17"/>
          <p:cNvSpPr txBox="1"/>
          <p:nvPr/>
        </p:nvSpPr>
        <p:spPr>
          <a:xfrm>
            <a:off x="6858000" y="4822031"/>
            <a:ext cx="1857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4" name="Google Shape;74;p17"/>
          <p:cNvSpPr txBox="1"/>
          <p:nvPr/>
        </p:nvSpPr>
        <p:spPr>
          <a:xfrm>
            <a:off x="714375" y="4126185"/>
            <a:ext cx="7715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 GUARDRAIL EXAMPLE</a:t>
            </a:r>
            <a:endParaRPr sz="1100"/>
          </a:p>
        </p:txBody>
      </p:sp>
      <p:sp>
        <p:nvSpPr>
          <p:cNvPr id="75" name="Google Shape;75;p17"/>
          <p:cNvSpPr txBox="1"/>
          <p:nvPr/>
        </p:nvSpPr>
        <p:spPr>
          <a:xfrm>
            <a:off x="714375" y="4283348"/>
            <a:ext cx="7715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"The system blocks the client from the payment stage until the creator’s custom intake form is validated."</a:t>
            </a:r>
            <a:endParaRPr sz="1100"/>
          </a:p>
        </p:txBody>
      </p:sp>
      <p:sp>
        <p:nvSpPr>
          <p:cNvPr id="76" name="Google Shape;76;p17"/>
          <p:cNvSpPr txBox="1"/>
          <p:nvPr/>
        </p:nvSpPr>
        <p:spPr>
          <a:xfrm>
            <a:off x="650081" y="2233091"/>
            <a:ext cx="231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Core Focus</a:t>
            </a:r>
            <a:endParaRPr sz="1100"/>
          </a:p>
        </p:txBody>
      </p:sp>
      <p:sp>
        <p:nvSpPr>
          <p:cNvPr id="77" name="Google Shape;77;p17"/>
          <p:cNvSpPr txBox="1"/>
          <p:nvPr/>
        </p:nvSpPr>
        <p:spPr>
          <a:xfrm>
            <a:off x="650081" y="2618854"/>
            <a:ext cx="220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Specific system behaviors based on the strict </a:t>
            </a:r>
            <a:r>
              <a:rPr b="1" i="0" lang="t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"What, not How"</a:t>
            </a:r>
            <a:r>
              <a:rPr b="0" i="0" lang="t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principle to lock project scope.</a:t>
            </a:r>
            <a:endParaRPr sz="1100"/>
          </a:p>
        </p:txBody>
      </p:sp>
      <p:sp>
        <p:nvSpPr>
          <p:cNvPr id="78" name="Google Shape;78;p17"/>
          <p:cNvSpPr txBox="1"/>
          <p:nvPr/>
        </p:nvSpPr>
        <p:spPr>
          <a:xfrm>
            <a:off x="3469518" y="2233091"/>
            <a:ext cx="231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Workflow Mapping</a:t>
            </a:r>
            <a:endParaRPr sz="1100"/>
          </a:p>
        </p:txBody>
      </p:sp>
      <p:sp>
        <p:nvSpPr>
          <p:cNvPr id="79" name="Google Shape;79;p17"/>
          <p:cNvSpPr txBox="1"/>
          <p:nvPr/>
        </p:nvSpPr>
        <p:spPr>
          <a:xfrm>
            <a:off x="3469518" y="2618854"/>
            <a:ext cx="220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Sequential activities with strict guardrails to prevent users from skipping critical project stages.</a:t>
            </a:r>
            <a:endParaRPr sz="1100"/>
          </a:p>
        </p:txBody>
      </p:sp>
      <p:sp>
        <p:nvSpPr>
          <p:cNvPr id="80" name="Google Shape;80;p17"/>
          <p:cNvSpPr txBox="1"/>
          <p:nvPr/>
        </p:nvSpPr>
        <p:spPr>
          <a:xfrm>
            <a:off x="6288955" y="2233091"/>
            <a:ext cx="231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Bes(t)poke Chain</a:t>
            </a:r>
            <a:endParaRPr sz="1100"/>
          </a:p>
        </p:txBody>
      </p:sp>
      <p:sp>
        <p:nvSpPr>
          <p:cNvPr id="81" name="Google Shape;81;p17"/>
          <p:cNvSpPr txBox="1"/>
          <p:nvPr/>
        </p:nvSpPr>
        <p:spPr>
          <a:xfrm>
            <a:off x="6288955" y="2618854"/>
            <a:ext cx="220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Strategic path: Registration → Custom Intake → Escrow Capture → Sign-off → Finish.</a:t>
            </a:r>
            <a:endParaRPr sz="1100"/>
          </a:p>
        </p:txBody>
      </p:sp>
      <p:pic>
        <p:nvPicPr>
          <p:cNvPr descr="image.png" id="82" name="Google Shape;8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0081" y="167587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" name="Google Shape;8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69518" y="167587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" name="Google Shape;8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88956" y="167587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8853275" y="4822028"/>
            <a:ext cx="170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</a:rPr>
              <a:t>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262550" y="777950"/>
            <a:ext cx="834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High-Level Functional Requirements (HLFR)</a:t>
            </a:r>
            <a:endParaRPr sz="3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093663"/>
            <a:ext cx="4057650" cy="1750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7725" y="1093663"/>
            <a:ext cx="4057650" cy="1750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3558257"/>
            <a:ext cx="1943100" cy="1435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43175" y="3542507"/>
            <a:ext cx="1943100" cy="1435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7725" y="3558257"/>
            <a:ext cx="1943100" cy="1435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3558257"/>
            <a:ext cx="1943100" cy="143589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428625" y="419896"/>
            <a:ext cx="849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3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High-Level Non-Functional Requirements (HLNFR)</a:t>
            </a:r>
            <a:endParaRPr sz="1100"/>
          </a:p>
        </p:txBody>
      </p:sp>
      <p:sp>
        <p:nvSpPr>
          <p:cNvPr id="109" name="Google Shape;109;p20"/>
          <p:cNvSpPr txBox="1"/>
          <p:nvPr/>
        </p:nvSpPr>
        <p:spPr>
          <a:xfrm>
            <a:off x="6950869" y="4822031"/>
            <a:ext cx="1764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0" name="Google Shape;110;p20"/>
          <p:cNvSpPr txBox="1"/>
          <p:nvPr/>
        </p:nvSpPr>
        <p:spPr>
          <a:xfrm>
            <a:off x="3054088" y="3163644"/>
            <a:ext cx="8701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Bes(t)poke Quality Pillars</a:t>
            </a:r>
            <a:endParaRPr sz="1500"/>
          </a:p>
        </p:txBody>
      </p:sp>
      <p:sp>
        <p:nvSpPr>
          <p:cNvPr id="111" name="Google Shape;111;p20"/>
          <p:cNvSpPr txBox="1"/>
          <p:nvPr/>
        </p:nvSpPr>
        <p:spPr>
          <a:xfrm>
            <a:off x="5188838" y="1405625"/>
            <a:ext cx="3795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800"/>
              <a:buNone/>
            </a:pPr>
            <a:r>
              <a:rPr b="1" lang="tr" sz="1300">
                <a:solidFill>
                  <a:schemeClr val="dk1"/>
                </a:solidFill>
              </a:rPr>
              <a:t>High-Level Scope Locking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4807744" y="1916516"/>
            <a:ext cx="361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Details the global quality requirements before the development team writes a single line of code </a:t>
            </a: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981169" y="1396560"/>
            <a:ext cx="3795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SzPts val="800"/>
              <a:buNone/>
            </a:pPr>
            <a:r>
              <a:rPr b="1" lang="tr" sz="1300">
                <a:solidFill>
                  <a:schemeClr val="dk1"/>
                </a:solidFill>
              </a:rPr>
              <a:t>Non-Functional Attributes</a:t>
            </a:r>
            <a:endParaRPr sz="1500"/>
          </a:p>
        </p:txBody>
      </p:sp>
      <p:sp>
        <p:nvSpPr>
          <p:cNvPr id="114" name="Google Shape;114;p20"/>
          <p:cNvSpPr txBox="1"/>
          <p:nvPr/>
        </p:nvSpPr>
        <p:spPr>
          <a:xfrm>
            <a:off x="573300" y="1611760"/>
            <a:ext cx="3768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b="1" sz="1400">
              <a:solidFill>
                <a:srgbClr val="47556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tr" sz="1300">
                <a:solidFill>
                  <a:srgbClr val="475569"/>
                </a:solidFill>
              </a:rPr>
              <a:t>Sets the operational benchmarks that guarantee a secure and stable marketplace</a:t>
            </a:r>
            <a:endParaRPr sz="2000">
              <a:solidFill>
                <a:srgbClr val="475569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578644" y="4244057"/>
            <a:ext cx="1725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Security</a:t>
            </a:r>
            <a:endParaRPr sz="1100"/>
          </a:p>
        </p:txBody>
      </p:sp>
      <p:sp>
        <p:nvSpPr>
          <p:cNvPr id="116" name="Google Shape;116;p20"/>
          <p:cNvSpPr txBox="1"/>
          <p:nvPr/>
        </p:nvSpPr>
        <p:spPr>
          <a:xfrm>
            <a:off x="578644" y="4565525"/>
            <a:ext cx="1643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encryption &amp; financial compliance.</a:t>
            </a:r>
            <a:endParaRPr sz="1100"/>
          </a:p>
        </p:txBody>
      </p:sp>
      <p:sp>
        <p:nvSpPr>
          <p:cNvPr id="117" name="Google Shape;117;p20"/>
          <p:cNvSpPr txBox="1"/>
          <p:nvPr/>
        </p:nvSpPr>
        <p:spPr>
          <a:xfrm>
            <a:off x="2693194" y="4244057"/>
            <a:ext cx="1725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Performance</a:t>
            </a:r>
            <a:endParaRPr sz="1100"/>
          </a:p>
        </p:txBody>
      </p:sp>
      <p:sp>
        <p:nvSpPr>
          <p:cNvPr id="118" name="Google Shape;118;p20"/>
          <p:cNvSpPr txBox="1"/>
          <p:nvPr/>
        </p:nvSpPr>
        <p:spPr>
          <a:xfrm>
            <a:off x="2693194" y="4565525"/>
            <a:ext cx="1643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High-speed queries &amp; low latency.</a:t>
            </a:r>
            <a:endParaRPr sz="1100"/>
          </a:p>
        </p:txBody>
      </p:sp>
      <p:sp>
        <p:nvSpPr>
          <p:cNvPr id="119" name="Google Shape;119;p20"/>
          <p:cNvSpPr txBox="1"/>
          <p:nvPr/>
        </p:nvSpPr>
        <p:spPr>
          <a:xfrm>
            <a:off x="4807744" y="4244057"/>
            <a:ext cx="1725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Usability</a:t>
            </a:r>
            <a:endParaRPr sz="1100"/>
          </a:p>
        </p:txBody>
      </p:sp>
      <p:sp>
        <p:nvSpPr>
          <p:cNvPr id="120" name="Google Shape;120;p20"/>
          <p:cNvSpPr txBox="1"/>
          <p:nvPr/>
        </p:nvSpPr>
        <p:spPr>
          <a:xfrm>
            <a:off x="4807744" y="4565525"/>
            <a:ext cx="1643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Intuitive architecture &amp; accessibility.</a:t>
            </a:r>
            <a:endParaRPr sz="1100"/>
          </a:p>
        </p:txBody>
      </p:sp>
      <p:sp>
        <p:nvSpPr>
          <p:cNvPr id="121" name="Google Shape;121;p20"/>
          <p:cNvSpPr txBox="1"/>
          <p:nvPr/>
        </p:nvSpPr>
        <p:spPr>
          <a:xfrm>
            <a:off x="6922294" y="4244057"/>
            <a:ext cx="1725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Availability</a:t>
            </a:r>
            <a:endParaRPr sz="1100"/>
          </a:p>
        </p:txBody>
      </p:sp>
      <p:sp>
        <p:nvSpPr>
          <p:cNvPr id="122" name="Google Shape;122;p20"/>
          <p:cNvSpPr txBox="1"/>
          <p:nvPr/>
        </p:nvSpPr>
        <p:spPr>
          <a:xfrm>
            <a:off x="6922294" y="4565525"/>
            <a:ext cx="1643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Maximum uptime &amp; session stability.</a:t>
            </a:r>
            <a:endParaRPr sz="1100"/>
          </a:p>
        </p:txBody>
      </p:sp>
      <p:pic>
        <p:nvPicPr>
          <p:cNvPr descr="image.png" id="123" name="Google Shape;12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0081" y="13365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79181" y="1336550"/>
            <a:ext cx="20716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8644" y="372970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693194" y="372970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807744" y="372970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922294" y="37297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8886819" y="4822381"/>
            <a:ext cx="1764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solidFill>
                  <a:srgbClr val="1E293B"/>
                </a:solidFill>
              </a:rPr>
              <a:t>6</a:t>
            </a:r>
            <a:endParaRPr sz="1300">
              <a:solidFill>
                <a:srgbClr val="1E293B"/>
              </a:solidFill>
            </a:endParaRPr>
          </a:p>
        </p:txBody>
      </p:sp>
      <p:pic>
        <p:nvPicPr>
          <p:cNvPr descr="image.png" id="130" name="Google Shape;130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10800000">
            <a:off x="7301106" y="1336550"/>
            <a:ext cx="207169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8535426" y="4698649"/>
            <a:ext cx="485700" cy="3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F4F7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/>
          <p:nvPr/>
        </p:nvSpPr>
        <p:spPr>
          <a:xfrm>
            <a:off x="0" y="0"/>
            <a:ext cx="73200" cy="51435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/>
          <p:nvPr/>
        </p:nvSpPr>
        <p:spPr>
          <a:xfrm>
            <a:off x="365788" y="633425"/>
            <a:ext cx="45720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6800"/>
              <a:buFont typeface="Calibri"/>
              <a:buNone/>
            </a:pPr>
            <a:r>
              <a:rPr b="1" i="0" lang="tr" sz="68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BES</a:t>
            </a:r>
            <a:r>
              <a:rPr b="1" i="0" lang="tr" sz="6800" u="none" cap="none" strike="noStrike">
                <a:solidFill>
                  <a:srgbClr val="1B5EA6"/>
                </a:solidFill>
                <a:latin typeface="Calibri"/>
                <a:ea typeface="Calibri"/>
                <a:cs typeface="Calibri"/>
                <a:sym typeface="Calibri"/>
              </a:rPr>
              <a:t>(T)</a:t>
            </a:r>
            <a:r>
              <a:rPr b="1" i="0" lang="tr" sz="68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POKE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274320" y="1737468"/>
            <a:ext cx="4206300" cy="273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365795" y="1728172"/>
            <a:ext cx="4480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07A"/>
              </a:buClr>
              <a:buSzPts val="1500"/>
              <a:buFont typeface="Calibri"/>
              <a:buNone/>
            </a:pPr>
            <a:r>
              <a:rPr b="1" i="0" lang="tr" sz="1500" u="none" cap="none" strike="noStrike">
                <a:solidFill>
                  <a:srgbClr val="13407A"/>
                </a:solidFill>
                <a:latin typeface="Calibri"/>
                <a:ea typeface="Calibri"/>
                <a:cs typeface="Calibri"/>
                <a:sym typeface="Calibri"/>
              </a:rPr>
              <a:t>SOFTWARE TOOLS SELECTION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274320" y="4828032"/>
            <a:ext cx="1371600" cy="456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/>
          <p:nvPr/>
        </p:nvSpPr>
        <p:spPr>
          <a:xfrm>
            <a:off x="5257800" y="4114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000"/>
              <a:buFont typeface="Calibri"/>
              <a:buNone/>
            </a:pPr>
            <a:r>
              <a:rPr b="1" i="0" lang="tr" sz="10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SELECTED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5230368" y="868680"/>
            <a:ext cx="1810500" cy="1206900"/>
          </a:xfrm>
          <a:prstGeom prst="rect">
            <a:avLst/>
          </a:prstGeom>
          <a:solidFill>
            <a:srgbClr val="13407A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5230368" y="868680"/>
            <a:ext cx="1810500" cy="54900"/>
          </a:xfrm>
          <a:prstGeom prst="rect">
            <a:avLst/>
          </a:prstGeom>
          <a:solidFill>
            <a:srgbClr val="2D8CFF"/>
          </a:solidFill>
          <a:ln cap="flat" cmpd="sng" w="12700">
            <a:solidFill>
              <a:srgbClr val="2D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5340096" y="960120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FF"/>
              </a:buClr>
              <a:buSzPts val="2000"/>
              <a:buFont typeface="Calibri"/>
              <a:buNone/>
            </a:pPr>
            <a:r>
              <a:rPr b="1" i="0" lang="tr" sz="2000" u="none" cap="none" strike="noStrike">
                <a:solidFill>
                  <a:srgbClr val="2D8C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5340096" y="1344168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800"/>
              <a:buFont typeface="Calibri"/>
              <a:buNone/>
            </a:pPr>
            <a:r>
              <a:rPr b="0" i="0" lang="tr" sz="8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5340096" y="1545336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t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7168896" y="868680"/>
            <a:ext cx="1810500" cy="1206900"/>
          </a:xfrm>
          <a:prstGeom prst="rect">
            <a:avLst/>
          </a:prstGeom>
          <a:solidFill>
            <a:srgbClr val="13407A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7168896" y="868680"/>
            <a:ext cx="1810500" cy="54900"/>
          </a:xfrm>
          <a:prstGeom prst="rect">
            <a:avLst/>
          </a:prstGeom>
          <a:solidFill>
            <a:srgbClr val="2D8CFF"/>
          </a:solidFill>
          <a:ln cap="flat" cmpd="sng" w="12700">
            <a:solidFill>
              <a:srgbClr val="2D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7278624" y="960120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FF"/>
              </a:buClr>
              <a:buSzPts val="2000"/>
              <a:buFont typeface="Calibri"/>
              <a:buNone/>
            </a:pPr>
            <a:r>
              <a:rPr b="1" i="0" lang="tr" sz="2000" u="none" cap="none" strike="noStrike">
                <a:solidFill>
                  <a:srgbClr val="2D8C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7278624" y="1344168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800"/>
              <a:buFont typeface="Calibri"/>
              <a:buNone/>
            </a:pPr>
            <a:r>
              <a:rPr b="0" i="0" lang="tr" sz="8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AI DETECTION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7278624" y="1545336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t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Vision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5230368" y="2221992"/>
            <a:ext cx="1810500" cy="1206900"/>
          </a:xfrm>
          <a:prstGeom prst="rect">
            <a:avLst/>
          </a:prstGeom>
          <a:solidFill>
            <a:srgbClr val="13407A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5230368" y="2221992"/>
            <a:ext cx="1810500" cy="54900"/>
          </a:xfrm>
          <a:prstGeom prst="rect">
            <a:avLst/>
          </a:prstGeom>
          <a:solidFill>
            <a:srgbClr val="2D8CFF"/>
          </a:solidFill>
          <a:ln cap="flat" cmpd="sng" w="12700">
            <a:solidFill>
              <a:srgbClr val="2D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"/>
          <p:cNvSpPr/>
          <p:nvPr/>
        </p:nvSpPr>
        <p:spPr>
          <a:xfrm>
            <a:off x="5340096" y="2313432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FF"/>
              </a:buClr>
              <a:buSzPts val="2000"/>
              <a:buFont typeface="Calibri"/>
              <a:buNone/>
            </a:pPr>
            <a:r>
              <a:rPr b="1" i="0" lang="tr" sz="2000" u="none" cap="none" strike="noStrike">
                <a:solidFill>
                  <a:srgbClr val="2D8C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5340096" y="2697480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800"/>
              <a:buFont typeface="Calibri"/>
              <a:buNone/>
            </a:pPr>
            <a:r>
              <a:rPr b="0" i="0" lang="tr" sz="8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5340096" y="2898648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t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React.js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7168896" y="2221992"/>
            <a:ext cx="1810500" cy="1206900"/>
          </a:xfrm>
          <a:prstGeom prst="rect">
            <a:avLst/>
          </a:prstGeom>
          <a:solidFill>
            <a:srgbClr val="13407A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3"/>
          <p:cNvSpPr/>
          <p:nvPr/>
        </p:nvSpPr>
        <p:spPr>
          <a:xfrm>
            <a:off x="7168896" y="2221992"/>
            <a:ext cx="1810500" cy="54900"/>
          </a:xfrm>
          <a:prstGeom prst="rect">
            <a:avLst/>
          </a:prstGeom>
          <a:solidFill>
            <a:srgbClr val="2D8CFF"/>
          </a:solidFill>
          <a:ln cap="flat" cmpd="sng" w="12700">
            <a:solidFill>
              <a:srgbClr val="2D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>
            <a:off x="7278624" y="2313432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FF"/>
              </a:buClr>
              <a:buSzPts val="2000"/>
              <a:buFont typeface="Calibri"/>
              <a:buNone/>
            </a:pPr>
            <a:r>
              <a:rPr b="1" i="0" lang="tr" sz="2000" u="none" cap="none" strike="noStrike">
                <a:solidFill>
                  <a:srgbClr val="2D8C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7278624" y="2697480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800"/>
              <a:buFont typeface="Calibri"/>
              <a:buNone/>
            </a:pPr>
            <a:r>
              <a:rPr b="0" i="0" lang="tr" sz="8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7278624" y="2898648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t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.NET 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5230368" y="3575304"/>
            <a:ext cx="1810500" cy="1206900"/>
          </a:xfrm>
          <a:prstGeom prst="rect">
            <a:avLst/>
          </a:prstGeom>
          <a:solidFill>
            <a:srgbClr val="13407A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3"/>
          <p:cNvSpPr/>
          <p:nvPr/>
        </p:nvSpPr>
        <p:spPr>
          <a:xfrm>
            <a:off x="5230368" y="3575304"/>
            <a:ext cx="1810500" cy="54900"/>
          </a:xfrm>
          <a:prstGeom prst="rect">
            <a:avLst/>
          </a:prstGeom>
          <a:solidFill>
            <a:srgbClr val="2D8CFF"/>
          </a:solidFill>
          <a:ln cap="flat" cmpd="sng" w="12700">
            <a:solidFill>
              <a:srgbClr val="2D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3"/>
          <p:cNvSpPr/>
          <p:nvPr/>
        </p:nvSpPr>
        <p:spPr>
          <a:xfrm>
            <a:off x="5340096" y="3666744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FF"/>
              </a:buClr>
              <a:buSzPts val="2000"/>
              <a:buFont typeface="Calibri"/>
              <a:buNone/>
            </a:pPr>
            <a:r>
              <a:rPr b="1" i="0" lang="tr" sz="2000" u="none" cap="none" strike="noStrike">
                <a:solidFill>
                  <a:srgbClr val="2D8C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5340096" y="4050792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800"/>
              <a:buFont typeface="Calibri"/>
              <a:buNone/>
            </a:pPr>
            <a:r>
              <a:rPr b="0" i="0" lang="tr" sz="8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5340096" y="425196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t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 SQL 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7168896" y="3575304"/>
            <a:ext cx="1810500" cy="1206900"/>
          </a:xfrm>
          <a:prstGeom prst="rect">
            <a:avLst/>
          </a:prstGeom>
          <a:solidFill>
            <a:srgbClr val="13407A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7168896" y="3575304"/>
            <a:ext cx="1810500" cy="54900"/>
          </a:xfrm>
          <a:prstGeom prst="rect">
            <a:avLst/>
          </a:prstGeom>
          <a:solidFill>
            <a:srgbClr val="2D8CFF"/>
          </a:solidFill>
          <a:ln cap="flat" cmpd="sng" w="12700">
            <a:solidFill>
              <a:srgbClr val="2D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7278624" y="3666744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FF"/>
              </a:buClr>
              <a:buSzPts val="2000"/>
              <a:buFont typeface="Calibri"/>
              <a:buNone/>
            </a:pPr>
            <a:r>
              <a:rPr b="1" i="0" lang="tr" sz="2000" u="none" cap="none" strike="noStrike">
                <a:solidFill>
                  <a:srgbClr val="2D8C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7278624" y="4050792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800"/>
              <a:buFont typeface="Calibri"/>
              <a:buNone/>
            </a:pPr>
            <a:r>
              <a:rPr b="0" i="0" lang="tr" sz="8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7278624" y="425196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t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Iyzico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B2545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365760" y="137160"/>
            <a:ext cx="6858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t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BES(T)POKE</a:t>
            </a:r>
            <a:r>
              <a:rPr b="0" i="0" lang="tr" sz="16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   |   Software Tools Selection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8046720" y="182880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300"/>
              <a:buFont typeface="Calibri"/>
              <a:buNone/>
            </a:pPr>
            <a:r>
              <a:rPr b="0" i="0" lang="tr" sz="13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1 /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228600" y="896112"/>
            <a:ext cx="4160400" cy="4069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4"/>
          <p:cNvSpPr/>
          <p:nvPr/>
        </p:nvSpPr>
        <p:spPr>
          <a:xfrm>
            <a:off x="228600" y="896112"/>
            <a:ext cx="4160400" cy="732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/>
          <p:nvPr/>
        </p:nvSpPr>
        <p:spPr>
          <a:xfrm>
            <a:off x="393192" y="1033272"/>
            <a:ext cx="388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900"/>
              <a:buFont typeface="Calibri"/>
              <a:buNone/>
            </a:pPr>
            <a:r>
              <a:rPr b="0" i="0" lang="tr" sz="9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DEPLOYMENT PLATFORM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393192" y="1280160"/>
            <a:ext cx="388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400"/>
              <a:buFont typeface="Calibri"/>
              <a:buNone/>
            </a:pPr>
            <a:r>
              <a:rPr b="1" i="0" lang="tr" sz="2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393192" y="1810512"/>
            <a:ext cx="3831300" cy="183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393192" y="1901952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Cost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2286000" y="1984248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2286000" y="1984248"/>
            <a:ext cx="2751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"/>
          <p:cNvSpPr/>
          <p:nvPr/>
        </p:nvSpPr>
        <p:spPr>
          <a:xfrm>
            <a:off x="3886200" y="1901952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18.8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393192" y="2377440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Training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2286000" y="2459736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2286000" y="2459736"/>
            <a:ext cx="6102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3886200" y="2377440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41.7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393192" y="2852928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Functionality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2286000" y="2935224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4"/>
          <p:cNvSpPr/>
          <p:nvPr/>
        </p:nvSpPr>
        <p:spPr>
          <a:xfrm>
            <a:off x="2286000" y="2935224"/>
            <a:ext cx="14631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"/>
          <p:cNvSpPr/>
          <p:nvPr/>
        </p:nvSpPr>
        <p:spPr>
          <a:xfrm>
            <a:off x="3886200" y="2852928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100.0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393192" y="3383280"/>
            <a:ext cx="3831300" cy="475500"/>
          </a:xfrm>
          <a:prstGeom prst="rect">
            <a:avLst/>
          </a:prstGeom>
          <a:solidFill>
            <a:srgbClr val="0B2545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4"/>
          <p:cNvSpPr/>
          <p:nvPr/>
        </p:nvSpPr>
        <p:spPr>
          <a:xfrm>
            <a:off x="502920" y="3383280"/>
            <a:ext cx="109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1691640" y="3383280"/>
            <a:ext cx="233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t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160.5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393192" y="3959352"/>
            <a:ext cx="3831300" cy="8961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"/>
          <p:cNvSpPr/>
          <p:nvPr/>
        </p:nvSpPr>
        <p:spPr>
          <a:xfrm>
            <a:off x="484632" y="4023360"/>
            <a:ext cx="370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A6"/>
              </a:buClr>
              <a:buSzPts val="1000"/>
              <a:buFont typeface="Calibri"/>
              <a:buNone/>
            </a:pPr>
            <a:r>
              <a:rPr b="1" i="0" lang="tr" sz="1000" u="none" cap="none" strike="noStrike">
                <a:solidFill>
                  <a:srgbClr val="1B5EA6"/>
                </a:solidFill>
                <a:latin typeface="Calibri"/>
                <a:ea typeface="Calibri"/>
                <a:cs typeface="Calibri"/>
                <a:sym typeface="Calibri"/>
              </a:rPr>
              <a:t>Why AWS?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484632" y="4297680"/>
            <a:ext cx="370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07A"/>
              </a:buClr>
              <a:buSzPts val="950"/>
              <a:buFont typeface="Calibri"/>
              <a:buNone/>
            </a:pPr>
            <a:r>
              <a:rPr b="0" i="0" lang="tr" sz="950" u="none" cap="none" strike="noStrike">
                <a:solidFill>
                  <a:srgbClr val="13407A"/>
                </a:solidFill>
                <a:latin typeface="Calibri"/>
                <a:ea typeface="Calibri"/>
                <a:cs typeface="Calibri"/>
                <a:sym typeface="Calibri"/>
              </a:rPr>
              <a:t>Most reliable cloud platform worldwide. Full stack: Compute, Storage, CDN, SQS. Supports .NET + SQL Server (RDS) with minimal integration risk.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4754880" y="896112"/>
            <a:ext cx="4160400" cy="4069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4754880" y="896112"/>
            <a:ext cx="4160400" cy="732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4919472" y="1033272"/>
            <a:ext cx="388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900"/>
              <a:buFont typeface="Calibri"/>
              <a:buNone/>
            </a:pPr>
            <a:r>
              <a:rPr b="0" i="0" lang="tr" sz="9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PAYMENT / ESCROW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4919472" y="1280160"/>
            <a:ext cx="388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400"/>
              <a:buFont typeface="Calibri"/>
              <a:buNone/>
            </a:pPr>
            <a:r>
              <a:rPr b="1" i="0" lang="tr" sz="2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Iyzico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4919472" y="1810512"/>
            <a:ext cx="3831300" cy="183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4919472" y="1901952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Cost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6812280" y="1984248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8412480" y="1901952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4919472" y="2377440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Training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6812280" y="2459736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6812280" y="2459736"/>
            <a:ext cx="3657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8412480" y="2377440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25.0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4919472" y="2852928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Functionality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6812280" y="2935224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6812280" y="2935224"/>
            <a:ext cx="14631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8412480" y="2852928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100.0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4919472" y="3383280"/>
            <a:ext cx="3831300" cy="475500"/>
          </a:xfrm>
          <a:prstGeom prst="rect">
            <a:avLst/>
          </a:prstGeom>
          <a:solidFill>
            <a:srgbClr val="0B2545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5029200" y="3383280"/>
            <a:ext cx="109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6217920" y="3383280"/>
            <a:ext cx="233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t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125.0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4919472" y="3959352"/>
            <a:ext cx="3831300" cy="8961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4"/>
          <p:cNvSpPr/>
          <p:nvPr/>
        </p:nvSpPr>
        <p:spPr>
          <a:xfrm>
            <a:off x="5010912" y="4023360"/>
            <a:ext cx="370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A6"/>
              </a:buClr>
              <a:buSzPts val="1000"/>
              <a:buFont typeface="Calibri"/>
              <a:buNone/>
            </a:pPr>
            <a:r>
              <a:rPr b="1" i="0" lang="tr" sz="1000" u="none" cap="none" strike="noStrike">
                <a:solidFill>
                  <a:srgbClr val="1B5EA6"/>
                </a:solidFill>
                <a:latin typeface="Calibri"/>
                <a:ea typeface="Calibri"/>
                <a:cs typeface="Calibri"/>
                <a:sym typeface="Calibri"/>
              </a:rPr>
              <a:t>Why Iyzico?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5010912" y="4297680"/>
            <a:ext cx="370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07A"/>
              </a:buClr>
              <a:buSzPts val="950"/>
              <a:buFont typeface="Calibri"/>
              <a:buNone/>
            </a:pPr>
            <a:r>
              <a:rPr b="0" i="0" lang="tr" sz="950" u="none" cap="none" strike="noStrike">
                <a:solidFill>
                  <a:srgbClr val="13407A"/>
                </a:solidFill>
                <a:latin typeface="Calibri"/>
                <a:ea typeface="Calibri"/>
                <a:cs typeface="Calibri"/>
                <a:sym typeface="Calibri"/>
              </a:rPr>
              <a:t>Fully compatible with Turkish market regulations. Supports escrow-style transactions. Funds held until approval or 72h timeout.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B2545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365760" y="137160"/>
            <a:ext cx="6858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t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BES(T)POKE</a:t>
            </a:r>
            <a:r>
              <a:rPr b="0" i="0" lang="tr" sz="16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   |   Software Tools Selection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8046720" y="182880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300"/>
              <a:buFont typeface="Calibri"/>
              <a:buNone/>
            </a:pPr>
            <a:r>
              <a:rPr b="0" i="0" lang="tr" sz="13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2 /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228600" y="896112"/>
            <a:ext cx="4160400" cy="4069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228600" y="896112"/>
            <a:ext cx="4160400" cy="732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393192" y="1033272"/>
            <a:ext cx="388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900"/>
              <a:buFont typeface="Calibri"/>
              <a:buNone/>
            </a:pPr>
            <a:r>
              <a:rPr b="0" i="0" lang="tr" sz="9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FRONTEND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393192" y="1280160"/>
            <a:ext cx="388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400"/>
              <a:buFont typeface="Calibri"/>
              <a:buNone/>
            </a:pPr>
            <a:r>
              <a:rPr b="1" i="0" lang="tr" sz="2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React.js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393192" y="1810512"/>
            <a:ext cx="3831300" cy="183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393192" y="1901952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Cost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2286000" y="1984248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2286000" y="1984248"/>
            <a:ext cx="14631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3886200" y="1901952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100.0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393192" y="2377440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Training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2286000" y="2459736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2286000" y="2459736"/>
            <a:ext cx="8529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3886200" y="2377440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58.3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393192" y="2852928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Functionality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2286000" y="2935224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2286000" y="2935224"/>
            <a:ext cx="14631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3886200" y="2852928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100.0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393192" y="3383280"/>
            <a:ext cx="3831300" cy="475500"/>
          </a:xfrm>
          <a:prstGeom prst="rect">
            <a:avLst/>
          </a:prstGeom>
          <a:solidFill>
            <a:srgbClr val="0B2545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502920" y="3383280"/>
            <a:ext cx="109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1691640" y="3383280"/>
            <a:ext cx="233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t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258.3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393192" y="3959352"/>
            <a:ext cx="3831300" cy="8961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484632" y="4023360"/>
            <a:ext cx="370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A6"/>
              </a:buClr>
              <a:buSzPts val="1000"/>
              <a:buFont typeface="Calibri"/>
              <a:buNone/>
            </a:pPr>
            <a:r>
              <a:rPr b="1" i="0" lang="tr" sz="1000" u="none" cap="none" strike="noStrike">
                <a:solidFill>
                  <a:srgbClr val="1B5EA6"/>
                </a:solidFill>
                <a:latin typeface="Calibri"/>
                <a:ea typeface="Calibri"/>
                <a:cs typeface="Calibri"/>
                <a:sym typeface="Calibri"/>
              </a:rPr>
              <a:t>Why React.js?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484632" y="4297680"/>
            <a:ext cx="370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07A"/>
              </a:buClr>
              <a:buSzPts val="950"/>
              <a:buFont typeface="Calibri"/>
              <a:buNone/>
            </a:pPr>
            <a:r>
              <a:rPr b="0" i="0" lang="tr" sz="950" u="none" cap="none" strike="noStrike">
                <a:solidFill>
                  <a:srgbClr val="13407A"/>
                </a:solidFill>
                <a:latin typeface="Calibri"/>
                <a:ea typeface="Calibri"/>
                <a:cs typeface="Calibri"/>
                <a:sym typeface="Calibri"/>
              </a:rPr>
              <a:t>Large ecosystem with ready-to-use components. Speeds up development for dynamic marketplace screens significantly.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4754880" y="896112"/>
            <a:ext cx="4160400" cy="4069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5"/>
          <p:cNvSpPr/>
          <p:nvPr/>
        </p:nvSpPr>
        <p:spPr>
          <a:xfrm>
            <a:off x="4754880" y="896112"/>
            <a:ext cx="4160400" cy="732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4919472" y="1033272"/>
            <a:ext cx="388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900"/>
              <a:buFont typeface="Calibri"/>
              <a:buNone/>
            </a:pPr>
            <a:r>
              <a:rPr b="0" i="0" lang="tr" sz="9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BACKEND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4919472" y="1280160"/>
            <a:ext cx="388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400"/>
              <a:buFont typeface="Calibri"/>
              <a:buNone/>
            </a:pPr>
            <a:r>
              <a:rPr b="1" i="0" lang="tr" sz="2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.NET Core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4919472" y="1810512"/>
            <a:ext cx="3831300" cy="183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4919472" y="1901952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Cost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6812280" y="1984248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6812280" y="1984248"/>
            <a:ext cx="14631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8412480" y="1901952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100.0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4919472" y="2377440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Training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6812280" y="2459736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6812280" y="2459736"/>
            <a:ext cx="8529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8412480" y="2377440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58.3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4919472" y="2852928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Functionality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6812280" y="2935224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6812280" y="2935224"/>
            <a:ext cx="14631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8412480" y="2852928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100.0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4919472" y="3383280"/>
            <a:ext cx="3831300" cy="475500"/>
          </a:xfrm>
          <a:prstGeom prst="rect">
            <a:avLst/>
          </a:prstGeom>
          <a:solidFill>
            <a:srgbClr val="0B2545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5029200" y="3383280"/>
            <a:ext cx="109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6217920" y="3383280"/>
            <a:ext cx="233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t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258.3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4919472" y="3959352"/>
            <a:ext cx="3831300" cy="8961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5010912" y="4023360"/>
            <a:ext cx="370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A6"/>
              </a:buClr>
              <a:buSzPts val="1000"/>
              <a:buFont typeface="Calibri"/>
              <a:buNone/>
            </a:pPr>
            <a:r>
              <a:rPr b="1" i="0" lang="tr" sz="1000" u="none" cap="none" strike="noStrike">
                <a:solidFill>
                  <a:srgbClr val="1B5EA6"/>
                </a:solidFill>
                <a:latin typeface="Calibri"/>
                <a:ea typeface="Calibri"/>
                <a:cs typeface="Calibri"/>
                <a:sym typeface="Calibri"/>
              </a:rPr>
              <a:t>Why .NET Core?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010912" y="4297680"/>
            <a:ext cx="370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07A"/>
              </a:buClr>
              <a:buSzPts val="950"/>
              <a:buFont typeface="Calibri"/>
              <a:buNone/>
            </a:pPr>
            <a:r>
              <a:rPr b="0" i="0" lang="tr" sz="950" u="none" cap="none" strike="noStrike">
                <a:solidFill>
                  <a:srgbClr val="13407A"/>
                </a:solidFill>
                <a:latin typeface="Calibri"/>
                <a:ea typeface="Calibri"/>
                <a:cs typeface="Calibri"/>
                <a:sym typeface="Calibri"/>
              </a:rPr>
              <a:t>LINQ feature automatically prevents SQL Injection. Highest functionality (98/100). Critical security for financial transactions.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B2545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6"/>
          <p:cNvSpPr/>
          <p:nvPr/>
        </p:nvSpPr>
        <p:spPr>
          <a:xfrm>
            <a:off x="365760" y="137160"/>
            <a:ext cx="6858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t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BES(T)POKE</a:t>
            </a:r>
            <a:r>
              <a:rPr b="0" i="0" lang="tr" sz="16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   |   Software Tools Selection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8046720" y="182880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300"/>
              <a:buFont typeface="Calibri"/>
              <a:buNone/>
            </a:pPr>
            <a:r>
              <a:rPr b="0" i="0" lang="tr" sz="13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3 /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228600" y="896112"/>
            <a:ext cx="4160400" cy="4069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228600" y="896112"/>
            <a:ext cx="4160400" cy="732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393192" y="1033272"/>
            <a:ext cx="388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900"/>
              <a:buFont typeface="Calibri"/>
              <a:buNone/>
            </a:pPr>
            <a:r>
              <a:rPr b="0" i="0" lang="tr" sz="9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393192" y="1280160"/>
            <a:ext cx="388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400"/>
              <a:buFont typeface="Calibri"/>
              <a:buNone/>
            </a:pPr>
            <a:r>
              <a:rPr b="1" i="0" lang="tr" sz="2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MS SQL Server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393192" y="1810512"/>
            <a:ext cx="3831300" cy="183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393192" y="1901952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Cost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2286000" y="1984248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2286000" y="1984248"/>
            <a:ext cx="9978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3886200" y="1901952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68.2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393192" y="2377440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Training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2286000" y="2459736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2286000" y="2459736"/>
            <a:ext cx="9759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3886200" y="2377440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66.7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393192" y="2852928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0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Functionality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2286000" y="2935224"/>
            <a:ext cx="1463100" cy="183000"/>
          </a:xfrm>
          <a:prstGeom prst="rect">
            <a:avLst/>
          </a:prstGeom>
          <a:solidFill>
            <a:srgbClr val="DCE8F5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2286000" y="2935224"/>
            <a:ext cx="1417800" cy="1830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3886200" y="2852928"/>
            <a:ext cx="38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96.9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393192" y="3383280"/>
            <a:ext cx="3831300" cy="475500"/>
          </a:xfrm>
          <a:prstGeom prst="rect">
            <a:avLst/>
          </a:prstGeom>
          <a:solidFill>
            <a:srgbClr val="0B2545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502920" y="3383280"/>
            <a:ext cx="109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b="1" i="0" lang="tr" sz="11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1691640" y="3383280"/>
            <a:ext cx="233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t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231.8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393192" y="3959352"/>
            <a:ext cx="3831300" cy="8961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C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6"/>
          <p:cNvSpPr/>
          <p:nvPr/>
        </p:nvSpPr>
        <p:spPr>
          <a:xfrm>
            <a:off x="484632" y="4023360"/>
            <a:ext cx="370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A6"/>
              </a:buClr>
              <a:buSzPts val="1000"/>
              <a:buFont typeface="Calibri"/>
              <a:buNone/>
            </a:pPr>
            <a:r>
              <a:rPr b="1" i="0" lang="tr" sz="1000" u="none" cap="none" strike="noStrike">
                <a:solidFill>
                  <a:srgbClr val="1B5EA6"/>
                </a:solidFill>
                <a:latin typeface="Calibri"/>
                <a:ea typeface="Calibri"/>
                <a:cs typeface="Calibri"/>
                <a:sym typeface="Calibri"/>
              </a:rPr>
              <a:t>Why MS SQL Server?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484632" y="4297680"/>
            <a:ext cx="370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07A"/>
              </a:buClr>
              <a:buSzPts val="950"/>
              <a:buFont typeface="Calibri"/>
              <a:buNone/>
            </a:pPr>
            <a:r>
              <a:rPr b="0" i="0" lang="tr" sz="950" u="none" cap="none" strike="noStrike">
                <a:solidFill>
                  <a:srgbClr val="13407A"/>
                </a:solidFill>
                <a:latin typeface="Calibri"/>
                <a:ea typeface="Calibri"/>
                <a:cs typeface="Calibri"/>
                <a:sym typeface="Calibri"/>
              </a:rPr>
              <a:t>Native compatibility with .NET &amp; C#. Entity Framework makes DB operations faster and more secure. Essential for Escrow data integrity.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0B5394"/>
                </a:solidFill>
              </a:rPr>
              <a:t>SPRINT</a:t>
            </a:r>
            <a:r>
              <a:rPr b="1" lang="tr">
                <a:solidFill>
                  <a:srgbClr val="0B5394"/>
                </a:solidFill>
              </a:rPr>
              <a:t>-1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336" name="Google Shape;33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38" name="Google Shape;33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675" y="1152475"/>
            <a:ext cx="7468974" cy="168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2300" y="3315950"/>
            <a:ext cx="2378600" cy="119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9675" y="3315950"/>
            <a:ext cx="2202619" cy="119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82550" y="3315950"/>
            <a:ext cx="2826100" cy="11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tr">
                <a:solidFill>
                  <a:srgbClr val="0B5394"/>
                </a:solidFill>
              </a:rPr>
              <a:t>SPRINT-2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0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000" y="1152000"/>
            <a:ext cx="7470001" cy="19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400" y="3315600"/>
            <a:ext cx="2568081" cy="11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6475" y="3315600"/>
            <a:ext cx="2295157" cy="11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1625" y="3315600"/>
            <a:ext cx="2295181" cy="1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/>
          <p:nvPr>
            <p:ph type="title"/>
          </p:nvPr>
        </p:nvSpPr>
        <p:spPr>
          <a:xfrm>
            <a:off x="311700" y="48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tr">
                <a:solidFill>
                  <a:srgbClr val="0B5394"/>
                </a:solidFill>
              </a:rPr>
              <a:t>SPRINT-3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358" name="Google Shape;35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60" name="Google Shape;36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000" y="1152475"/>
            <a:ext cx="7470001" cy="13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000" y="3315600"/>
            <a:ext cx="2699100" cy="11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37112" y="3315600"/>
            <a:ext cx="2376420" cy="11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13525" y="3315600"/>
            <a:ext cx="2620173" cy="1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tr">
                <a:solidFill>
                  <a:srgbClr val="0B5394"/>
                </a:solidFill>
              </a:rPr>
              <a:t>SPRINT-4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71" name="Google Shape;37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000" y="1152478"/>
            <a:ext cx="7470001" cy="15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000" y="3315600"/>
            <a:ext cx="2435425" cy="11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3413" y="3315600"/>
            <a:ext cx="2938366" cy="11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11772" y="3315600"/>
            <a:ext cx="2159775" cy="1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"/>
          <p:cNvSpPr txBox="1"/>
          <p:nvPr>
            <p:ph type="title"/>
          </p:nvPr>
        </p:nvSpPr>
        <p:spPr>
          <a:xfrm>
            <a:off x="311700" y="29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0B5394"/>
                </a:solidFill>
              </a:rPr>
              <a:t>Schedule Overview</a:t>
            </a:r>
            <a:endParaRPr b="1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380" name="Google Shape;38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381" name="Google Shape;38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50" y="1082600"/>
            <a:ext cx="4738250" cy="368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3"/>
          <p:cNvSpPr txBox="1"/>
          <p:nvPr/>
        </p:nvSpPr>
        <p:spPr>
          <a:xfrm>
            <a:off x="5434050" y="1234500"/>
            <a:ext cx="35871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chemeClr val="dk1"/>
                </a:solidFill>
              </a:rPr>
              <a:t>Sprint-Based Planning</a:t>
            </a:r>
            <a:endParaRPr b="1" sz="13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tr" sz="1200">
                <a:solidFill>
                  <a:schemeClr val="dk1"/>
                </a:solidFill>
              </a:rPr>
              <a:t>The project is divided into four main sprints.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tr" sz="1200">
                <a:solidFill>
                  <a:schemeClr val="dk1"/>
                </a:solidFill>
              </a:rPr>
              <a:t>Each sprint focuses on a specific system feature.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tr" sz="1200">
                <a:solidFill>
                  <a:schemeClr val="dk1"/>
                </a:solidFill>
              </a:rPr>
              <a:t>This structure helps organize tasks more clearly.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tr" sz="1200">
                <a:solidFill>
                  <a:schemeClr val="dk1"/>
                </a:solidFill>
              </a:rPr>
              <a:t>Work is completed step by step.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tr" sz="1200">
                <a:solidFill>
                  <a:schemeClr val="dk1"/>
                </a:solidFill>
              </a:rPr>
              <a:t>Sprint planning helps track progress and deadlines.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4"/>
          <p:cNvSpPr txBox="1"/>
          <p:nvPr>
            <p:ph type="title"/>
          </p:nvPr>
        </p:nvSpPr>
        <p:spPr>
          <a:xfrm>
            <a:off x="220275" y="22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0B5394"/>
                </a:solidFill>
              </a:rPr>
              <a:t>Gantt Chart Overview</a:t>
            </a:r>
            <a:endParaRPr b="1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388" name="Google Shape;38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389" name="Google Shape;38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75" y="1017738"/>
            <a:ext cx="514362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4"/>
          <p:cNvSpPr txBox="1"/>
          <p:nvPr/>
        </p:nvSpPr>
        <p:spPr>
          <a:xfrm>
            <a:off x="5744425" y="1712140"/>
            <a:ext cx="31200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>
                <a:solidFill>
                  <a:schemeClr val="dk1"/>
                </a:solidFill>
              </a:rPr>
              <a:t>What We Planned</a:t>
            </a:r>
            <a:endParaRPr b="1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tr" sz="1300">
                <a:solidFill>
                  <a:schemeClr val="dk1"/>
                </a:solidFill>
              </a:rPr>
              <a:t>Sprint 1:</a:t>
            </a:r>
            <a:r>
              <a:rPr lang="tr" sz="1300">
                <a:solidFill>
                  <a:schemeClr val="dk1"/>
                </a:solidFill>
              </a:rPr>
              <a:t> Basic system setup and user features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tr" sz="1300">
                <a:solidFill>
                  <a:schemeClr val="dk1"/>
                </a:solidFill>
              </a:rPr>
              <a:t>Sprint 2:</a:t>
            </a:r>
            <a:r>
              <a:rPr lang="tr" sz="1300">
                <a:solidFill>
                  <a:schemeClr val="dk1"/>
                </a:solidFill>
              </a:rPr>
              <a:t> Creator and order-related features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tr" sz="1300">
                <a:solidFill>
                  <a:schemeClr val="dk1"/>
                </a:solidFill>
              </a:rPr>
              <a:t>Sprint 3:</a:t>
            </a:r>
            <a:r>
              <a:rPr lang="tr" sz="1300">
                <a:solidFill>
                  <a:schemeClr val="dk1"/>
                </a:solidFill>
              </a:rPr>
              <a:t> Communication and tracking features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tr" sz="1300">
                <a:solidFill>
                  <a:schemeClr val="dk1"/>
                </a:solidFill>
              </a:rPr>
              <a:t>Sprint 4:</a:t>
            </a:r>
            <a:r>
              <a:rPr lang="tr" sz="1300">
                <a:solidFill>
                  <a:schemeClr val="dk1"/>
                </a:solidFill>
              </a:rPr>
              <a:t> Payment, admin panel, notifications, and testing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396" name="Google Shape;3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00" y="317475"/>
            <a:ext cx="6011376" cy="450855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5"/>
          <p:cNvSpPr txBox="1"/>
          <p:nvPr/>
        </p:nvSpPr>
        <p:spPr>
          <a:xfrm>
            <a:off x="6128925" y="2097825"/>
            <a:ext cx="2892300" cy="1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>
                <a:solidFill>
                  <a:schemeClr val="dk1"/>
                </a:solidFill>
              </a:rPr>
              <a:t>Key Point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1"/>
                </a:solidFill>
              </a:rPr>
              <a:t>High-effort tasks require more time, testing, and coordination, so we planned them carefully in the schedule.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tr"/>
              <a:t>Stakeholders</a:t>
            </a:r>
            <a:endParaRPr/>
          </a:p>
        </p:txBody>
      </p:sp>
      <p:sp>
        <p:nvSpPr>
          <p:cNvPr id="403" name="Google Shape;40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404" name="Google Shape;4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22799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"/>
          <p:cNvSpPr txBox="1"/>
          <p:nvPr>
            <p:ph type="title"/>
          </p:nvPr>
        </p:nvSpPr>
        <p:spPr>
          <a:xfrm>
            <a:off x="311700" y="45062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Project Risks</a:t>
            </a:r>
            <a:endParaRPr/>
          </a:p>
        </p:txBody>
      </p:sp>
      <p:sp>
        <p:nvSpPr>
          <p:cNvPr id="410" name="Google Shape;410;p37"/>
          <p:cNvSpPr txBox="1"/>
          <p:nvPr>
            <p:ph idx="1" type="body"/>
          </p:nvPr>
        </p:nvSpPr>
        <p:spPr>
          <a:xfrm>
            <a:off x="917075" y="1185500"/>
            <a:ext cx="784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412" name="Google Shape;4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264625" cy="37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0B5394"/>
                </a:solidFill>
              </a:rPr>
              <a:t>Measurements</a:t>
            </a:r>
            <a:endParaRPr b="1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419" name="Google Shape;4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24400"/>
            <a:ext cx="343259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rgbClr val="0B5394"/>
                </a:solidFill>
              </a:rPr>
              <a:t>Graphical User Interfaces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9"/>
          <p:cNvSpPr txBox="1"/>
          <p:nvPr>
            <p:ph idx="1" type="body"/>
          </p:nvPr>
        </p:nvSpPr>
        <p:spPr>
          <a:xfrm>
            <a:off x="311700" y="1271950"/>
            <a:ext cx="8520600" cy="34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1"/>
                </a:solidFill>
              </a:rPr>
              <a:t>Customer Ui’s: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1"/>
                </a:solidFill>
              </a:rPr>
              <a:t>Creator Ui’s: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Admin Ui’s: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6" name="Google Shape;42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sp>
        <p:nvSpPr>
          <p:cNvPr id="427" name="Google Shape;427;p39">
            <a:hlinkClick r:id="rId3"/>
          </p:cNvPr>
          <p:cNvSpPr txBox="1"/>
          <p:nvPr/>
        </p:nvSpPr>
        <p:spPr>
          <a:xfrm>
            <a:off x="433925" y="1617000"/>
            <a:ext cx="75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u="sng">
                <a:solidFill>
                  <a:schemeClr val="hlink"/>
                </a:solidFill>
                <a:hlinkClick r:id="rId4"/>
              </a:rPr>
              <a:t>https://drive.google.com/file/d/15-dZuYz70U59DGmRGAgalx-exm4HrmLC/view?usp=sharing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28" name="Google Shape;428;p39"/>
          <p:cNvSpPr txBox="1"/>
          <p:nvPr/>
        </p:nvSpPr>
        <p:spPr>
          <a:xfrm>
            <a:off x="433925" y="2734450"/>
            <a:ext cx="75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u="sng">
                <a:solidFill>
                  <a:schemeClr val="hlink"/>
                </a:solidFill>
                <a:hlinkClick r:id="rId5"/>
              </a:rPr>
              <a:t>https://drive.google.com/file/d/1jQkcQXuL3_kq13dxdbwHJzc3IzWR-Hba/view?usp=sharing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29" name="Google Shape;429;p39"/>
          <p:cNvSpPr txBox="1"/>
          <p:nvPr/>
        </p:nvSpPr>
        <p:spPr>
          <a:xfrm>
            <a:off x="433925" y="3991725"/>
            <a:ext cx="75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u="sng">
                <a:solidFill>
                  <a:schemeClr val="hlink"/>
                </a:solidFill>
                <a:hlinkClick r:id="rId6"/>
              </a:rPr>
              <a:t>https://drive.google.com/file/d/18KDA4QW0wVYuwI2J47-VElz3DhTBeVEF/view?usp=sharing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1"/>
          <p:cNvSpPr txBox="1"/>
          <p:nvPr>
            <p:ph type="title"/>
          </p:nvPr>
        </p:nvSpPr>
        <p:spPr>
          <a:xfrm>
            <a:off x="311700" y="417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rgbClr val="0B5394"/>
                </a:solidFill>
              </a:rPr>
              <a:t>References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440" name="Google Shape;44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